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40acf15-9307-3b28-7c06-d9eaa71a6102}">
          <p14:sldIdLst>
            <p14:sldId id="256"/>
            <p14:sldId id="257"/>
          </p14:sldIdLst>
        </p14:section>
        <p14:section name="O projeto" id="{cec4100f-803f-926a-0dde-4986c3642481}">
          <p14:sldIdLst>
            <p14:sldId id="258"/>
            <p14:sldId id="259"/>
          </p14:sldIdLst>
        </p14:section>
        <p14:section name="Como foi feito" id="{991c5bf0-7ab1-9da0-c541-4dce8b1ee22e}">
          <p14:sldIdLst>
            <p14:sldId id="260"/>
            <p14:sldId id="261"/>
            <p14:sldId id="262"/>
            <p14:sldId id="263"/>
          </p14:sldIdLst>
        </p14:section>
        <p14:section name="Desafios" id="{d9697675-6735-3b49-cf1d-39e99714531a}">
          <p14:sldIdLst>
            <p14:sldId id="264"/>
          </p14:sldIdLst>
        </p14:section>
        <p14:section name="Fechamento" id="{06f5bbb8-85ad-1c07-0a92-edb2a4da526d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Cumprimente e apresente o projeto: o GestureDeck permite passar slides, apontar e desenhar só com as mãos, usando uma câmera comum. Esta apresentação será conduzida com o próprio programa. Antes de começar, deixe o PowerPoint em F5 e o GestureDeck rodando.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ALTERNATIVA (1 min). O GestureDeck é uma alternativa aos controles de sempre. No lugar do passador, que descarrega, os slides passam com um gesto. No lugar do teclado, que prende a gente ao notebook, dá para apresentar de longe. No lugar do mouse, que não aponta no ar, o indicador vira um laser e a pinça desenha. Tudo com uma câmera comum e as mãos. O próximo slide mostra como usar.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E COMO PASSAR (1,5 min). Resuma: uma câmera, duas mãos, zero passador. Em seguida, explique enquanto faz: 1) mão esquerda fechada e levantada liga o modo slides. 2) Na mão direita, dois dedos para cima com o polegar dobrado, segurando por cerca de 0,35 s, passa para o próximo slide. Faça o gesto e siga para o slide 4. 3) Para voltar, é o mesmo gesto com o polegar aberto, formando um L. Se quiser, volte um slide e avance de novo para mostrar. Sem a mão esquerda levantada, nada acontece, e isso evita trocar de slide sem querer.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E DESENHAR, AO VIVO (2 min). A imagem é uma captura do próprio programa por cima de um slide. Faça junto: 1) abra a mão esquerda e mostre a paleta que aparece à direita. 2) Aponte com o indicador e mostre o laser; deixe-o parado sobre uma cor por cerca de 1 segundo para escolhê-la. 3) Faça a pinça e desenhe um círculo em volta de uma palavra do slide. Para continuar, feche a mão esquerda (modo slides) e passe o slide. Como é uma janela transparente sobre a tela, quem assiste remotamente também vê, bastando compartilhar a tela inteira. Se algo falhar, ria junto com a plateia: o slide dos dois modos mostra que isso faz parte da história.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CAMINHO DE UM GESTO (1,5 min). A câmera manda a imagem, o MediaPipe acha a mão e entrega 21 pontos, nossas regras transformam esses pontos em um gesto, e o gesto vira ou uma ação na janela transparente (laser, desenho) ou uma tecla de seta para o PowerPoint. No nosso teste, da câmera até a ação deu uma média de uns 18 milissegundos.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MÃO VIRA 21 PONTOS (1,5 min). O MediaPipe não entende gesto, ele só entrega 21 pontos por mão. O gesto a gente descobre com geometria: um dedo está esticado quando a ponta está mais longe do pulso do que a articulação do meio. Dividimos tudo pelo tamanho da mão, então funciona perto e longe da câmera. Punho é zero dedos, laser é um, dois dedos é slide, mão aberta é quatro.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FERRAMENTAS (1,5 min). Python no centro. OpenCV lê a câmera. MediaPipe acha a mão. PySide6 desenha a janela transparente com o laser. PyAutoGUI aperta a seta. NumPy faz as contas.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NÚMEROS (45 s). 21 pontos por mão, cerca de 18 milissegundos da câmera até a ação, 58 testes automáticos, uns 2,5 mil linhas de Python, 7 slides trocados no teste de hoje e zero passadores de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DOIS MODOS (2 min). A motivação: testando com as mãos de verdade, ao fechar os dedos para trocar de slide a pinça disparava e riscava a tela. Em vez de apertar limites, a gente separou por contexto: a mão esquerda escolhe o modo. Fechada, só slides; aberta, só desenho. O laser funciona nos dois, porque é com ele que se escolhe a cor. É a mesma lógica que usamos desde o começo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DOS GESTOS E DAS TECLAS (1 min). Fique com este slide na tela durante as perguntas. Mão esquerda escolhe o modo, mão direita age dentro dele. O laser vale nos dois modos; a pinça só no modo desenho; os dois dedos só no modo slides. Teclas: F1 mostra ou esconde o cartão de ajuda com os gestos, F2 troca o ponto vermelho do laser por um holofote (uma luz suave), F9 pausa e retoma os comandos sem fechar o programa e F10 encerra e salva o relatório com os números da sessão.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APRENDEMOS (1 min). Três lições, todas vindas da própria história do projeto. Primeira: teste de verdade vale mais, porque os 58 testes passaram e a câmera ainda achou um bug. Segunda: simples vence esperto, o gesto parado ganhou do deslize que borrava no escuro. Terceira: separar evita confusão, os dois modos acabaram com a tela riscada sem querer. E o resumo: cada erro virou uma regra do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(30 s). Agradeça à plateia. O código está no GitHub, no endereço que aparece na tela. Os seis gestos ao lado são todo o vocabulário do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126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GestureDeck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GestureDeck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Passe os slides com as mãos, sem passador e sem mouse.</a:t>
            </a:r>
            <a:endParaRPr lang="en-US" sz="2600" dirty="0"/>
          </a:p>
        </p:txBody>
      </p:sp>
      <p:sp>
        <p:nvSpPr>
          <p:cNvPr id="4" name="Etiqueta FIAP  |  CHECKPOINT 3"/>
          <p:cNvSpPr txBox="1"/>
          <p:nvPr/>
        </p:nvSpPr>
        <p:spPr>
          <a:xfrm>
            <a:off x="731520" y="868680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FIAP  |  CHECKPOINT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92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Cognitive Computing, Computer Vision and IoT Systems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03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Luan Rodrigues, João Henrique e Mateus Henrique</a:t>
            </a:r>
            <a:endParaRPr lang="en-US" sz="1800" dirty="0"/>
          </a:p>
        </p:txBody>
      </p:sp>
      <p:sp>
        <p:nvSpPr>
          <p:cNvPr id="7" name="Cartao da mao"/>
          <p:cNvSpPr/>
          <p:nvPr/>
        </p:nvSpPr>
        <p:spPr>
          <a:xfrm>
            <a:off x="7178040" y="822960"/>
            <a:ext cx="4343400" cy="5212080"/>
          </a:xfrm>
          <a:prstGeom prst="roundRect">
            <a:avLst>
              <a:gd name="adj" fmla="val 336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mage 0" descr="Mão com o indicador estic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783080"/>
            <a:ext cx="3886200" cy="3886200"/>
          </a:xfrm>
          <a:prstGeom prst="rect">
            <a:avLst/>
          </a:prstGeom>
        </p:spPr>
      </p:pic>
      <p:pic>
        <p:nvPicPr>
          <p:cNvPr id="9" name="Image 1" descr="Ponto de laser vermelh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713232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Uma alternativa: controlar com as mãos</a:t>
            </a:r>
            <a:endParaRPr lang="en-US" sz="3600" dirty="0"/>
          </a:p>
        </p:txBody>
      </p:sp>
      <p:sp>
        <p:nvSpPr>
          <p:cNvPr id="3" name="Cartao da alternativa 1"/>
          <p:cNvSpPr/>
          <p:nvPr/>
        </p:nvSpPr>
        <p:spPr>
          <a:xfrm>
            <a:off x="640080" y="1691640"/>
            <a:ext cx="3429000" cy="3246120"/>
          </a:xfrm>
          <a:prstGeom prst="roundRect">
            <a:avLst>
              <a:gd name="adj" fmla="val 45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Fundo do icone Sem pilha para acabar"/>
          <p:cNvSpPr/>
          <p:nvPr/>
        </p:nvSpPr>
        <p:spPr>
          <a:xfrm>
            <a:off x="960120" y="201168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Icone: Sem pilha para aca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220163"/>
            <a:ext cx="451714" cy="451714"/>
          </a:xfrm>
          <a:prstGeom prst="rect">
            <a:avLst/>
          </a:prstGeom>
        </p:spPr>
      </p:pic>
      <p:sp>
        <p:nvSpPr>
          <p:cNvPr id="6" name="Etiqueta NO LUGAR DO PASSADOR"/>
          <p:cNvSpPr txBox="1"/>
          <p:nvPr/>
        </p:nvSpPr>
        <p:spPr>
          <a:xfrm>
            <a:off x="960120" y="3108960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NO LUGAR DO PASSADOR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547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Sem pilha para acabar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Os slides passam com um gesto, e o controle nunca descarrega.</a:t>
            </a:r>
            <a:endParaRPr lang="en-US" sz="1600" dirty="0"/>
          </a:p>
        </p:txBody>
      </p:sp>
      <p:sp>
        <p:nvSpPr>
          <p:cNvPr id="9" name="Cartao da alternativa 2"/>
          <p:cNvSpPr/>
          <p:nvPr/>
        </p:nvSpPr>
        <p:spPr>
          <a:xfrm>
            <a:off x="4343400" y="1691640"/>
            <a:ext cx="3429000" cy="3246120"/>
          </a:xfrm>
          <a:prstGeom prst="roundRect">
            <a:avLst>
              <a:gd name="adj" fmla="val 45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Fundo do icone Livre do notebook"/>
          <p:cNvSpPr/>
          <p:nvPr/>
        </p:nvSpPr>
        <p:spPr>
          <a:xfrm>
            <a:off x="4663440" y="20116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Icone: Livre do note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923" y="2220163"/>
            <a:ext cx="451714" cy="451714"/>
          </a:xfrm>
          <a:prstGeom prst="rect">
            <a:avLst/>
          </a:prstGeom>
        </p:spPr>
      </p:pic>
      <p:sp>
        <p:nvSpPr>
          <p:cNvPr id="12" name="Etiqueta NO LUGAR DO TECLADO"/>
          <p:cNvSpPr txBox="1"/>
          <p:nvPr/>
        </p:nvSpPr>
        <p:spPr>
          <a:xfrm>
            <a:off x="4663440" y="3108960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NO LUGAR DO TECLADO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547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Livre do notebook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Apresente de longe, sem ninguém apertando a seta por você.</a:t>
            </a:r>
            <a:endParaRPr lang="en-US" sz="1600" dirty="0"/>
          </a:p>
        </p:txBody>
      </p:sp>
      <p:sp>
        <p:nvSpPr>
          <p:cNvPr id="15" name="Cartao da alternativa 3"/>
          <p:cNvSpPr/>
          <p:nvPr/>
        </p:nvSpPr>
        <p:spPr>
          <a:xfrm>
            <a:off x="8046720" y="1691640"/>
            <a:ext cx="3429000" cy="3246120"/>
          </a:xfrm>
          <a:prstGeom prst="roundRect">
            <a:avLst>
              <a:gd name="adj" fmla="val 45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Fundo do icone O laser sai da mão"/>
          <p:cNvSpPr/>
          <p:nvPr/>
        </p:nvSpPr>
        <p:spPr>
          <a:xfrm>
            <a:off x="8366760" y="20116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Icone: O laser sai da m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243" y="2220163"/>
            <a:ext cx="451714" cy="451714"/>
          </a:xfrm>
          <a:prstGeom prst="rect">
            <a:avLst/>
          </a:prstGeom>
        </p:spPr>
      </p:pic>
      <p:sp>
        <p:nvSpPr>
          <p:cNvPr id="18" name="Etiqueta NO LUGAR DO MOUSE"/>
          <p:cNvSpPr txBox="1"/>
          <p:nvPr/>
        </p:nvSpPr>
        <p:spPr>
          <a:xfrm>
            <a:off x="8366760" y="3108960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NO LUGAR DO MOUSE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547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 laser sai da mão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 indicador vira um laser e a pinça desenha direto no slide.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Tudo isso com uma câmera comum e as suas mãos.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ideia: as mãos viram o controle</a:t>
            </a:r>
            <a:endParaRPr lang="en-US" sz="3600" dirty="0"/>
          </a:p>
        </p:txBody>
      </p:sp>
      <p:sp>
        <p:nvSpPr>
          <p:cNvPr id="3" name="Frase de efeito"/>
          <p:cNvSpPr txBox="1"/>
          <p:nvPr/>
        </p:nvSpPr>
        <p:spPr>
          <a:xfrm>
            <a:off x="640080" y="164592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Uma câmera.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Duas mãos.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accent2"/>
                </a:solidFill>
              </a:rPr>
              <a:t>Zero passador.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Uma câmera comum, o MediaPipe e Python viram um controle remoto para o PowerPoint.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20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Faça o gesto e passe este slide.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Comece passando este slide</a:t>
            </a:r>
            <a:endParaRPr lang="en-US" sz="2200" dirty="0"/>
          </a:p>
        </p:txBody>
      </p:sp>
      <p:sp>
        <p:nvSpPr>
          <p:cNvPr id="7" name="Gesto Ligue o modo slides"/>
          <p:cNvSpPr/>
          <p:nvPr/>
        </p:nvSpPr>
        <p:spPr>
          <a:xfrm>
            <a:off x="6309360" y="2194560"/>
            <a:ext cx="5239512" cy="1234440"/>
          </a:xfrm>
          <a:prstGeom prst="roundRect">
            <a:avLst>
              <a:gd name="adj" fmla="val 118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mage 0" descr="Ligue o modo sli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350008"/>
            <a:ext cx="914400" cy="914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2350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Ligue o modo slides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743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Mão esquerda fechada e levantada.</a:t>
            </a:r>
            <a:endParaRPr lang="en-US" sz="1400" dirty="0"/>
          </a:p>
        </p:txBody>
      </p:sp>
      <p:sp>
        <p:nvSpPr>
          <p:cNvPr id="11" name="Gesto Slide seguinte"/>
          <p:cNvSpPr/>
          <p:nvPr/>
        </p:nvSpPr>
        <p:spPr>
          <a:xfrm>
            <a:off x="6309360" y="3566160"/>
            <a:ext cx="5239512" cy="1234440"/>
          </a:xfrm>
          <a:prstGeom prst="roundRect">
            <a:avLst>
              <a:gd name="adj" fmla="val 118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1" descr="Slide segui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21608"/>
            <a:ext cx="914400" cy="9144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35240" y="3721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Slide seguinte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Mão direita, dois dedos para cima e polegar dobrado. Segure por um instante.</a:t>
            </a:r>
            <a:endParaRPr lang="en-US" sz="1400" dirty="0"/>
          </a:p>
        </p:txBody>
      </p:sp>
      <p:sp>
        <p:nvSpPr>
          <p:cNvPr id="15" name="Gesto Slide anterior"/>
          <p:cNvSpPr/>
          <p:nvPr/>
        </p:nvSpPr>
        <p:spPr>
          <a:xfrm>
            <a:off x="6309360" y="4937760"/>
            <a:ext cx="5239512" cy="1234440"/>
          </a:xfrm>
          <a:prstGeom prst="roundRect">
            <a:avLst>
              <a:gd name="adj" fmla="val 118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mage 2" descr="Slide anteri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093208"/>
            <a:ext cx="914400" cy="9144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635240" y="5093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Slide anterior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7635240" y="5486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 mesmo gesto, com o polegar aberto para o lado, formando um 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Apontar e desenhar ao vivo</a:t>
            </a:r>
            <a:endParaRPr lang="en-US" sz="3600" dirty="0"/>
          </a:p>
        </p:txBody>
      </p:sp>
      <p:pic>
        <p:nvPicPr>
          <p:cNvPr id="3" name="Image 0" descr="O que a plateia vê: slide com laser, um círculo rosa desenhado e a paleta de c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035040" cy="339471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  <p:sp>
        <p:nvSpPr>
          <p:cNvPr id="4" name="Marcador 1"/>
          <p:cNvSpPr txBox="1"/>
          <p:nvPr/>
        </p:nvSpPr>
        <p:spPr>
          <a:xfrm>
            <a:off x="5650078" y="3132963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Marcador 2"/>
          <p:cNvSpPr txBox="1"/>
          <p:nvPr/>
        </p:nvSpPr>
        <p:spPr>
          <a:xfrm>
            <a:off x="2662733" y="286138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Marcador 3"/>
          <p:cNvSpPr txBox="1"/>
          <p:nvPr/>
        </p:nvSpPr>
        <p:spPr>
          <a:xfrm>
            <a:off x="4382719" y="265770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Passo 1"/>
          <p:cNvSpPr/>
          <p:nvPr/>
        </p:nvSpPr>
        <p:spPr>
          <a:xfrm>
            <a:off x="6949440" y="1645920"/>
            <a:ext cx="4599432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Legenda 1"/>
          <p:cNvSpPr txBox="1"/>
          <p:nvPr/>
        </p:nvSpPr>
        <p:spPr>
          <a:xfrm>
            <a:off x="7132320" y="20299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1" descr="Abra a mão esquer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01368"/>
            <a:ext cx="868680" cy="868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0" y="1783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Abra a mão esquerda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0" y="21488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Liga o modo desenho e mostra a paleta de cores.</a:t>
            </a:r>
            <a:endParaRPr lang="en-US" sz="1400" dirty="0"/>
          </a:p>
        </p:txBody>
      </p:sp>
      <p:sp>
        <p:nvSpPr>
          <p:cNvPr id="12" name="Passo 2"/>
          <p:cNvSpPr/>
          <p:nvPr/>
        </p:nvSpPr>
        <p:spPr>
          <a:xfrm>
            <a:off x="6949440" y="2926080"/>
            <a:ext cx="4599432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Legenda 2"/>
          <p:cNvSpPr txBox="1"/>
          <p:nvPr/>
        </p:nvSpPr>
        <p:spPr>
          <a:xfrm>
            <a:off x="7132320" y="33101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pic>
        <p:nvPicPr>
          <p:cNvPr id="14" name="Image 2" descr="Aponte com o la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081528"/>
            <a:ext cx="868680" cy="8686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86800" y="3063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Aponte com o laser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8686800" y="3429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Indicador esticado. Parado sobre uma cor por 1 segundo, ela é escolhida.</a:t>
            </a:r>
            <a:endParaRPr lang="en-US" sz="1400" dirty="0"/>
          </a:p>
        </p:txBody>
      </p:sp>
      <p:sp>
        <p:nvSpPr>
          <p:cNvPr id="17" name="Passo 3"/>
          <p:cNvSpPr/>
          <p:nvPr/>
        </p:nvSpPr>
        <p:spPr>
          <a:xfrm>
            <a:off x="6949440" y="4206240"/>
            <a:ext cx="4599432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Legenda 3"/>
          <p:cNvSpPr txBox="1"/>
          <p:nvPr/>
        </p:nvSpPr>
        <p:spPr>
          <a:xfrm>
            <a:off x="7132320" y="45902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pic>
        <p:nvPicPr>
          <p:cNvPr id="19" name="Image 3" descr="Desenhe com a pinç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361688"/>
            <a:ext cx="868680" cy="8686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686800" y="4343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Desenhe com a pinça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686800" y="47091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Polegar e indicador juntos, movendo a mão.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Para seguir a apresentação, feche a mão esquerda: volta ao modo slides.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Funciona também em apresentação remota: é só compartilhar a tela inteira.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caminho de um gesto</a:t>
            </a:r>
            <a:endParaRPr lang="en-US" sz="3600" dirty="0"/>
          </a:p>
        </p:txBody>
      </p:sp>
      <p:sp>
        <p:nvSpPr>
          <p:cNvPr id="3" name="Etapa Câmera"/>
          <p:cNvSpPr/>
          <p:nvPr/>
        </p:nvSpPr>
        <p:spPr>
          <a:xfrm>
            <a:off x="640080" y="2011680"/>
            <a:ext cx="1737360" cy="283464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Fundo do icone Câmera"/>
          <p:cNvSpPr/>
          <p:nvPr/>
        </p:nvSpPr>
        <p:spPr>
          <a:xfrm>
            <a:off x="914400" y="228600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Icone: Câ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4835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Câmera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7490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1080p, imagem espelhada.</a:t>
            </a:r>
            <a:endParaRPr lang="en-US" sz="1400" dirty="0"/>
          </a:p>
        </p:txBody>
      </p:sp>
      <p:sp>
        <p:nvSpPr>
          <p:cNvPr id="8" name="Etapa MediaPipe"/>
          <p:cNvSpPr/>
          <p:nvPr/>
        </p:nvSpPr>
        <p:spPr>
          <a:xfrm>
            <a:off x="2697480" y="2011680"/>
            <a:ext cx="1737360" cy="283464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Fundo do icone MediaPipe"/>
          <p:cNvSpPr/>
          <p:nvPr/>
        </p:nvSpPr>
        <p:spPr>
          <a:xfrm>
            <a:off x="2971800" y="228600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1" descr="Icone: MediaPi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10" y="248351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7180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MediaPipe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971800" y="37490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21 pontos por mão, ao vivo.</a:t>
            </a:r>
            <a:endParaRPr lang="en-US" sz="1400" dirty="0"/>
          </a:p>
        </p:txBody>
      </p:sp>
      <p:sp>
        <p:nvSpPr>
          <p:cNvPr id="13" name="Etapa Gestos"/>
          <p:cNvSpPr/>
          <p:nvPr/>
        </p:nvSpPr>
        <p:spPr>
          <a:xfrm>
            <a:off x="4754880" y="2011680"/>
            <a:ext cx="1737360" cy="283464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Fundo do icone Gestos"/>
          <p:cNvSpPr/>
          <p:nvPr/>
        </p:nvSpPr>
        <p:spPr>
          <a:xfrm>
            <a:off x="5029200" y="22860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Icone: Gest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710" y="248351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2920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Gestos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029200" y="37490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Regras simples e filtros.</a:t>
            </a:r>
            <a:endParaRPr lang="en-US" sz="1400" dirty="0"/>
          </a:p>
        </p:txBody>
      </p:sp>
      <p:sp>
        <p:nvSpPr>
          <p:cNvPr id="18" name="Etapa PowerPoint"/>
          <p:cNvSpPr/>
          <p:nvPr/>
        </p:nvSpPr>
        <p:spPr>
          <a:xfrm>
            <a:off x="9418320" y="2011680"/>
            <a:ext cx="1737360" cy="283464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Fundo do icone PowerPoint"/>
          <p:cNvSpPr/>
          <p:nvPr/>
        </p:nvSpPr>
        <p:spPr>
          <a:xfrm>
            <a:off x="9692640" y="228600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Icone: PowerPoi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0" y="248351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9264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PowerPoint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692640" y="37490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Nem percebe a diferença.</a:t>
            </a:r>
            <a:endParaRPr lang="en-US" sz="1400" dirty="0"/>
          </a:p>
        </p:txBody>
      </p:sp>
      <p:sp>
        <p:nvSpPr>
          <p:cNvPr id="23" name="Etapa Janela transparente"/>
          <p:cNvSpPr/>
          <p:nvPr/>
        </p:nvSpPr>
        <p:spPr>
          <a:xfrm>
            <a:off x="6812280" y="2011680"/>
            <a:ext cx="2240280" cy="128016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Fundo do icone Janela transparente"/>
          <p:cNvSpPr/>
          <p:nvPr/>
        </p:nvSpPr>
        <p:spPr>
          <a:xfrm>
            <a:off x="6949440" y="233172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Image 4" descr="Icone: Janela transparen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059" y="248533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699248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Janela transparente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699248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Laser e desenho.</a:t>
            </a:r>
            <a:endParaRPr lang="en-US" sz="1300" dirty="0"/>
          </a:p>
        </p:txBody>
      </p:sp>
      <p:sp>
        <p:nvSpPr>
          <p:cNvPr id="28" name="Etapa Teclas de seta"/>
          <p:cNvSpPr/>
          <p:nvPr/>
        </p:nvSpPr>
        <p:spPr>
          <a:xfrm>
            <a:off x="6812280" y="3566160"/>
            <a:ext cx="2240280" cy="128016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Fundo do icone Teclas de seta"/>
          <p:cNvSpPr/>
          <p:nvPr/>
        </p:nvSpPr>
        <p:spPr>
          <a:xfrm>
            <a:off x="6949440" y="3886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Icone: Teclas de set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3059" y="403981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699248" y="3749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Teclas de seta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699248" y="4343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Trocam os slides.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2395728" y="3429000"/>
            <a:ext cx="256032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4453128" y="3429000"/>
            <a:ext cx="256032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6510528" y="2651760"/>
            <a:ext cx="256032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6510528" y="4206240"/>
            <a:ext cx="256032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9070848" y="2651760"/>
            <a:ext cx="301752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9070848" y="4206240"/>
            <a:ext cx="301752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9" name="Latencia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Da câmera até a ação: cerca de </a:t>
            </a:r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18 milissegundos</a:t>
            </a:r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. Mais rápido que um piscar de olhos.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mão vira 21 pontos</a:t>
            </a:r>
            <a:endParaRPr lang="en-US" sz="3600" dirty="0"/>
          </a:p>
        </p:txBody>
      </p:sp>
      <p:sp>
        <p:nvSpPr>
          <p:cNvPr id="3" name="Cartao do esqueleto"/>
          <p:cNvSpPr/>
          <p:nvPr/>
        </p:nvSpPr>
        <p:spPr>
          <a:xfrm>
            <a:off x="640080" y="1600200"/>
            <a:ext cx="4754880" cy="4572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Mão representada por 21 pontos coloridos ligados por linh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389120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16002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Como saber se um dedo está esticado?</a:t>
            </a:r>
            <a:endParaRPr lang="en-US" sz="2400" dirty="0"/>
          </a:p>
        </p:txBody>
      </p:sp>
      <p:sp>
        <p:nvSpPr>
          <p:cNvPr id="6" name="Passo 1"/>
          <p:cNvSpPr txBox="1"/>
          <p:nvPr/>
        </p:nvSpPr>
        <p:spPr>
          <a:xfrm>
            <a:off x="5852160" y="25146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249631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Mede a distância do pulso até a ponta do dedo.</a:t>
            </a:r>
            <a:endParaRPr lang="en-US" sz="1600" dirty="0"/>
          </a:p>
        </p:txBody>
      </p:sp>
      <p:sp>
        <p:nvSpPr>
          <p:cNvPr id="8" name="Passo 2"/>
          <p:cNvSpPr txBox="1"/>
          <p:nvPr/>
        </p:nvSpPr>
        <p:spPr>
          <a:xfrm>
            <a:off x="5852160" y="32004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318211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Compara com a distância do pulso até a articulação do meio.</a:t>
            </a:r>
            <a:endParaRPr lang="en-US" sz="1600" dirty="0"/>
          </a:p>
        </p:txBody>
      </p:sp>
      <p:sp>
        <p:nvSpPr>
          <p:cNvPr id="10" name="Passo 3"/>
          <p:cNvSpPr txBox="1"/>
          <p:nvPr/>
        </p:nvSpPr>
        <p:spPr>
          <a:xfrm>
            <a:off x="5852160" y="3886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386791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Divide tudo pelo tamanho da mão, e vale perto ou longe da câmera.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4572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Contar os dedos esticados já diz o gesto:</a:t>
            </a:r>
            <a:endParaRPr lang="en-US" sz="1600" dirty="0"/>
          </a:p>
        </p:txBody>
      </p:sp>
      <p:sp>
        <p:nvSpPr>
          <p:cNvPr id="13" name="Contagem 0 dedos"/>
          <p:cNvSpPr/>
          <p:nvPr/>
        </p:nvSpPr>
        <p:spPr>
          <a:xfrm>
            <a:off x="5852160" y="4983480"/>
            <a:ext cx="1280160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Image 1" descr="0 de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5120640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97880" y="5742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 dedos</a:t>
            </a:r>
            <a:endParaRPr lang="en-US" sz="1300" dirty="0"/>
          </a:p>
        </p:txBody>
      </p:sp>
      <p:sp>
        <p:nvSpPr>
          <p:cNvPr id="16" name="Contagem 1 dedo"/>
          <p:cNvSpPr/>
          <p:nvPr/>
        </p:nvSpPr>
        <p:spPr>
          <a:xfrm>
            <a:off x="7315200" y="4983480"/>
            <a:ext cx="1280160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mage 2" descr="1 de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816" y="5120640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60920" y="5742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dedo</a:t>
            </a:r>
            <a:endParaRPr lang="en-US" sz="1300" dirty="0"/>
          </a:p>
        </p:txBody>
      </p:sp>
      <p:sp>
        <p:nvSpPr>
          <p:cNvPr id="19" name="Contagem 2 dedos"/>
          <p:cNvSpPr/>
          <p:nvPr/>
        </p:nvSpPr>
        <p:spPr>
          <a:xfrm>
            <a:off x="8778240" y="4983480"/>
            <a:ext cx="1280160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3" descr="2 ded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6" y="5120640"/>
            <a:ext cx="566928" cy="5669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23960" y="5742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 dedos</a:t>
            </a:r>
            <a:endParaRPr lang="en-US" sz="1300" dirty="0"/>
          </a:p>
        </p:txBody>
      </p:sp>
      <p:sp>
        <p:nvSpPr>
          <p:cNvPr id="22" name="Contagem 4 dedos"/>
          <p:cNvSpPr/>
          <p:nvPr/>
        </p:nvSpPr>
        <p:spPr>
          <a:xfrm>
            <a:off x="10241280" y="4983480"/>
            <a:ext cx="1280160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Image 4" descr="4 ded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5120640"/>
            <a:ext cx="566928" cy="56692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287000" y="5742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 dedos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As ferramentas</a:t>
            </a:r>
            <a:endParaRPr lang="en-US" sz="3600" dirty="0"/>
          </a:p>
        </p:txBody>
      </p:sp>
      <p:sp>
        <p:nvSpPr>
          <p:cNvPr id="3" name="Cartao Python 3.10"/>
          <p:cNvSpPr/>
          <p:nvPr/>
        </p:nvSpPr>
        <p:spPr>
          <a:xfrm>
            <a:off x="640080" y="1645920"/>
            <a:ext cx="3520440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Fundo do icone Python 3.10"/>
          <p:cNvSpPr/>
          <p:nvPr/>
        </p:nvSpPr>
        <p:spPr>
          <a:xfrm>
            <a:off x="914400" y="196596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Icone: Python 3.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1524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2121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Python 3.10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cola que junta tudo.</a:t>
            </a:r>
            <a:endParaRPr lang="en-US" sz="1600" dirty="0"/>
          </a:p>
        </p:txBody>
      </p:sp>
      <p:sp>
        <p:nvSpPr>
          <p:cNvPr id="8" name="Cartao OpenCV"/>
          <p:cNvSpPr/>
          <p:nvPr/>
        </p:nvSpPr>
        <p:spPr>
          <a:xfrm>
            <a:off x="4434840" y="1645920"/>
            <a:ext cx="3520440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Fundo do icone OpenCV"/>
          <p:cNvSpPr/>
          <p:nvPr/>
        </p:nvSpPr>
        <p:spPr>
          <a:xfrm>
            <a:off x="4709160" y="19659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Icone: OpenC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98" y="21524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2121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OpenCV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Lê a câmera e prepara a imagem.</a:t>
            </a:r>
            <a:endParaRPr lang="en-US" sz="1600" dirty="0"/>
          </a:p>
        </p:txBody>
      </p:sp>
      <p:sp>
        <p:nvSpPr>
          <p:cNvPr id="13" name="Cartao MediaPipe"/>
          <p:cNvSpPr/>
          <p:nvPr/>
        </p:nvSpPr>
        <p:spPr>
          <a:xfrm>
            <a:off x="8229600" y="1645920"/>
            <a:ext cx="3520440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Fundo do icone MediaPipe"/>
          <p:cNvSpPr/>
          <p:nvPr/>
        </p:nvSpPr>
        <p:spPr>
          <a:xfrm>
            <a:off x="8503920" y="196596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Icone: MediaPi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458" y="215249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509760" y="2121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MediaPipe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Acha a mão e entrega os 21 pontos.</a:t>
            </a:r>
            <a:endParaRPr lang="en-US" sz="1600" dirty="0"/>
          </a:p>
        </p:txBody>
      </p:sp>
      <p:sp>
        <p:nvSpPr>
          <p:cNvPr id="18" name="Cartao PySide6"/>
          <p:cNvSpPr/>
          <p:nvPr/>
        </p:nvSpPr>
        <p:spPr>
          <a:xfrm>
            <a:off x="640080" y="3977640"/>
            <a:ext cx="3520440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Fundo do icone PySide6"/>
          <p:cNvSpPr/>
          <p:nvPr/>
        </p:nvSpPr>
        <p:spPr>
          <a:xfrm>
            <a:off x="914400" y="429768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Icone: PySide6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8" y="448421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920240" y="4453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PySide6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303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Desenha a janela transparente sobre a tela.</a:t>
            </a:r>
            <a:endParaRPr lang="en-US" sz="1600" dirty="0"/>
          </a:p>
        </p:txBody>
      </p:sp>
      <p:sp>
        <p:nvSpPr>
          <p:cNvPr id="23" name="Cartao PyAutoGUI"/>
          <p:cNvSpPr/>
          <p:nvPr/>
        </p:nvSpPr>
        <p:spPr>
          <a:xfrm>
            <a:off x="4434840" y="3977640"/>
            <a:ext cx="3520440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Fundo do icone PyAutoGUI"/>
          <p:cNvSpPr/>
          <p:nvPr/>
        </p:nvSpPr>
        <p:spPr>
          <a:xfrm>
            <a:off x="4709160" y="4297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Icone: PyAutoGU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698" y="4484218"/>
            <a:ext cx="404165" cy="40416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715000" y="4453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PyAutoGUI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4709160" y="5303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Aperta a seta do teclado por nós.</a:t>
            </a:r>
            <a:endParaRPr lang="en-US" sz="1600" dirty="0"/>
          </a:p>
        </p:txBody>
      </p:sp>
      <p:sp>
        <p:nvSpPr>
          <p:cNvPr id="28" name="Cartao NumPy"/>
          <p:cNvSpPr/>
          <p:nvPr/>
        </p:nvSpPr>
        <p:spPr>
          <a:xfrm>
            <a:off x="8229600" y="3977640"/>
            <a:ext cx="3520440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Fundo do icone NumPy"/>
          <p:cNvSpPr/>
          <p:nvPr/>
        </p:nvSpPr>
        <p:spPr>
          <a:xfrm>
            <a:off x="8503920" y="429768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mage 5" descr="Icone: NumP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458" y="4484218"/>
            <a:ext cx="404165" cy="40416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509760" y="4453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NumPy</a:t>
            </a:r>
            <a:endParaRPr lang="en-US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8503920" y="5303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As contas de geometria da mão.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Em números</a:t>
            </a:r>
            <a:endParaRPr lang="en-US" sz="3600" dirty="0"/>
          </a:p>
        </p:txBody>
      </p:sp>
      <p:sp>
        <p:nvSpPr>
          <p:cNvPr id="3" name="Numero 21"/>
          <p:cNvSpPr/>
          <p:nvPr/>
        </p:nvSpPr>
        <p:spPr>
          <a:xfrm>
            <a:off x="640080" y="160020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862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pontos rastreados em cada mão</a:t>
            </a:r>
            <a:endParaRPr lang="en-US" sz="1600" dirty="0"/>
          </a:p>
        </p:txBody>
      </p:sp>
      <p:sp>
        <p:nvSpPr>
          <p:cNvPr id="6" name="Numero 18 ms"/>
          <p:cNvSpPr/>
          <p:nvPr/>
        </p:nvSpPr>
        <p:spPr>
          <a:xfrm>
            <a:off x="4434840" y="160020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18 ms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862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 câmera até a ação na tela</a:t>
            </a:r>
            <a:endParaRPr lang="en-US" sz="1600" dirty="0"/>
          </a:p>
        </p:txBody>
      </p:sp>
      <p:sp>
        <p:nvSpPr>
          <p:cNvPr id="9" name="Numero 58"/>
          <p:cNvSpPr/>
          <p:nvPr/>
        </p:nvSpPr>
        <p:spPr>
          <a:xfrm>
            <a:off x="8229600" y="160020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4964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58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2862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testes automáticos, sem câmera</a:t>
            </a:r>
            <a:endParaRPr lang="en-US" sz="1600" dirty="0"/>
          </a:p>
        </p:txBody>
      </p:sp>
      <p:sp>
        <p:nvSpPr>
          <p:cNvPr id="12" name="Numero 2,5 mil"/>
          <p:cNvSpPr/>
          <p:nvPr/>
        </p:nvSpPr>
        <p:spPr>
          <a:xfrm>
            <a:off x="640080" y="384048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069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2,5 mil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1023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linhas de Python</a:t>
            </a:r>
            <a:endParaRPr lang="en-US" sz="1600" dirty="0"/>
          </a:p>
        </p:txBody>
      </p:sp>
      <p:sp>
        <p:nvSpPr>
          <p:cNvPr id="15" name="Numero 7"/>
          <p:cNvSpPr/>
          <p:nvPr/>
        </p:nvSpPr>
        <p:spPr>
          <a:xfrm>
            <a:off x="4434840" y="384048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4069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7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51023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slides trocados no teste de hoje</a:t>
            </a:r>
            <a:endParaRPr lang="en-US" sz="1600" dirty="0"/>
          </a:p>
        </p:txBody>
      </p:sp>
      <p:sp>
        <p:nvSpPr>
          <p:cNvPr id="18" name="Numero 0"/>
          <p:cNvSpPr/>
          <p:nvPr/>
        </p:nvSpPr>
        <p:spPr>
          <a:xfrm>
            <a:off x="8229600" y="384048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49640" y="4069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0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51023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passadores de slide necessários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Por que dois modos?</a:t>
            </a:r>
            <a:endParaRPr lang="en-US" sz="3600" dirty="0"/>
          </a:p>
        </p:txBody>
      </p:sp>
      <p:sp>
        <p:nvSpPr>
          <p:cNvPr id="3" name="Cartao do problema"/>
          <p:cNvSpPr/>
          <p:nvPr/>
        </p:nvSpPr>
        <p:spPr>
          <a:xfrm>
            <a:off x="640080" y="1600200"/>
            <a:ext cx="10908792" cy="109728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Etiqueta O PROBLEMA"/>
          <p:cNvSpPr txBox="1"/>
          <p:nvPr/>
        </p:nvSpPr>
        <p:spPr>
          <a:xfrm>
            <a:off x="914400" y="1984248"/>
            <a:ext cx="15544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 PROBLEMA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7830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Ao fechar os dedos para passar o slide, o programa reconhecia a pinça e a tela ficava riscada sem querer.</a:t>
            </a:r>
            <a:endParaRPr lang="en-US" sz="2000" dirty="0"/>
          </a:p>
        </p:txBody>
      </p:sp>
      <p:sp>
        <p:nvSpPr>
          <p:cNvPr id="6" name="Cartao MODO SLIDES"/>
          <p:cNvSpPr/>
          <p:nvPr/>
        </p:nvSpPr>
        <p:spPr>
          <a:xfrm>
            <a:off x="640080" y="2926080"/>
            <a:ext cx="5257800" cy="246888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0" descr="Mão esquerda fech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83280"/>
            <a:ext cx="1554480" cy="1554480"/>
          </a:xfrm>
          <a:prstGeom prst="rect">
            <a:avLst/>
          </a:prstGeom>
        </p:spPr>
      </p:pic>
      <p:sp>
        <p:nvSpPr>
          <p:cNvPr id="8" name="Etiqueta MODO SLIDES"/>
          <p:cNvSpPr txBox="1"/>
          <p:nvPr/>
        </p:nvSpPr>
        <p:spPr>
          <a:xfrm>
            <a:off x="2697480" y="3200400"/>
            <a:ext cx="182880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MODO SLIDES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3675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Mão esquerda fechada</a:t>
            </a:r>
            <a:endParaRPr lang="en-US" sz="2100" dirty="0"/>
          </a:p>
        </p:txBody>
      </p:sp>
      <p:sp>
        <p:nvSpPr>
          <p:cNvPr id="10" name="Regras do MODO SLIDES"/>
          <p:cNvSpPr txBox="1"/>
          <p:nvPr/>
        </p:nvSpPr>
        <p:spPr>
          <a:xfrm>
            <a:off x="2697480" y="4206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Libera: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laser e troca de slide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Bloqueia: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pinça, que riscava a tela</a:t>
            </a:r>
            <a:endParaRPr lang="en-US" sz="1500" dirty="0"/>
          </a:p>
        </p:txBody>
      </p:sp>
      <p:sp>
        <p:nvSpPr>
          <p:cNvPr id="11" name="Cartao MODO DESENHO"/>
          <p:cNvSpPr/>
          <p:nvPr/>
        </p:nvSpPr>
        <p:spPr>
          <a:xfrm>
            <a:off x="6291072" y="2926080"/>
            <a:ext cx="5257800" cy="246888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1" descr="Mão esquerda aber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383280"/>
            <a:ext cx="1554480" cy="1554480"/>
          </a:xfrm>
          <a:prstGeom prst="rect">
            <a:avLst/>
          </a:prstGeom>
        </p:spPr>
      </p:pic>
      <p:sp>
        <p:nvSpPr>
          <p:cNvPr id="13" name="Etiqueta MODO DESENHO"/>
          <p:cNvSpPr txBox="1"/>
          <p:nvPr/>
        </p:nvSpPr>
        <p:spPr>
          <a:xfrm>
            <a:off x="8348472" y="3200400"/>
            <a:ext cx="182880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MODO DESENHO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348472" y="3675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Mão esquerda aberta</a:t>
            </a:r>
            <a:endParaRPr lang="en-US" sz="2100" dirty="0"/>
          </a:p>
        </p:txBody>
      </p:sp>
      <p:sp>
        <p:nvSpPr>
          <p:cNvPr id="15" name="Regras do MODO DESENHO"/>
          <p:cNvSpPr txBox="1"/>
          <p:nvPr/>
        </p:nvSpPr>
        <p:spPr>
          <a:xfrm>
            <a:off x="8348472" y="4206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Libera: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laser, desenho e paleta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Bloqueia: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troca de slide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897880" y="397764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ou</a:t>
            </a:r>
            <a:endParaRPr lang="en-US" sz="1800" dirty="0"/>
          </a:p>
        </p:txBody>
      </p:sp>
      <p:sp>
        <p:nvSpPr>
          <p:cNvPr id="17" name="Regra do laser"/>
          <p:cNvSpPr txBox="1"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O </a:t>
            </a:r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laser</a:t>
            </a:r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vale nos dois, porque é com ele que se escolhe a cor.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Resumo dos gestos e das teclas</a:t>
            </a:r>
            <a:endParaRPr lang="en-US" sz="3600" dirty="0"/>
          </a:p>
        </p:txBody>
      </p:sp>
      <p:sp>
        <p:nvSpPr>
          <p:cNvPr id="3" name="Cartao da mao esquerda"/>
          <p:cNvSpPr/>
          <p:nvPr/>
        </p:nvSpPr>
        <p:spPr>
          <a:xfrm>
            <a:off x="640080" y="1508760"/>
            <a:ext cx="4480560" cy="32004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Mão esquerda escolhe o modo</a:t>
            </a:r>
            <a:endParaRPr lang="en-US" sz="2000" dirty="0"/>
          </a:p>
        </p:txBody>
      </p:sp>
      <p:pic>
        <p:nvPicPr>
          <p:cNvPr id="5" name="Image 0" descr="Punho fech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1005840" cy="1005840"/>
          </a:xfrm>
          <a:prstGeom prst="rect">
            <a:avLst/>
          </a:prstGeom>
        </p:spPr>
      </p:pic>
      <p:sp>
        <p:nvSpPr>
          <p:cNvPr id="6" name="Etiqueta MODO SLIDES"/>
          <p:cNvSpPr txBox="1"/>
          <p:nvPr/>
        </p:nvSpPr>
        <p:spPr>
          <a:xfrm>
            <a:off x="2194560" y="2331720"/>
            <a:ext cx="16459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MODO SLIDES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Mão fechada e levantada</a:t>
            </a:r>
            <a:endParaRPr lang="en-US" sz="1500" dirty="0"/>
          </a:p>
        </p:txBody>
      </p:sp>
      <p:pic>
        <p:nvPicPr>
          <p:cNvPr id="8" name="Image 1" descr="Mão aber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20440"/>
            <a:ext cx="1005840" cy="1005840"/>
          </a:xfrm>
          <a:prstGeom prst="rect">
            <a:avLst/>
          </a:prstGeom>
        </p:spPr>
      </p:pic>
      <p:sp>
        <p:nvSpPr>
          <p:cNvPr id="9" name="Etiqueta MODO DESENHO"/>
          <p:cNvSpPr txBox="1"/>
          <p:nvPr/>
        </p:nvSpPr>
        <p:spPr>
          <a:xfrm>
            <a:off x="2194560" y="3657600"/>
            <a:ext cx="17830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MODO DESENHO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19456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Mão aberta e levantada</a:t>
            </a:r>
            <a:endParaRPr lang="en-US" sz="1500" dirty="0"/>
          </a:p>
        </p:txBody>
      </p:sp>
      <p:sp>
        <p:nvSpPr>
          <p:cNvPr id="11" name="Cartao da mao direita"/>
          <p:cNvSpPr/>
          <p:nvPr/>
        </p:nvSpPr>
        <p:spPr>
          <a:xfrm>
            <a:off x="5394960" y="1508760"/>
            <a:ext cx="6153912" cy="32004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7150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Mão direita age dentro do modo</a:t>
            </a:r>
            <a:endParaRPr lang="en-US" sz="2000" dirty="0"/>
          </a:p>
        </p:txBody>
      </p:sp>
      <p:pic>
        <p:nvPicPr>
          <p:cNvPr id="13" name="Image 2" descr="La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40280"/>
            <a:ext cx="914400" cy="914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122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Laser</a:t>
            </a:r>
            <a:endParaRPr lang="en-US" sz="1700" dirty="0"/>
          </a:p>
        </p:txBody>
      </p:sp>
      <p:sp>
        <p:nvSpPr>
          <p:cNvPr id="15" name="Etiqueta NOS DOIS MODOS"/>
          <p:cNvSpPr txBox="1"/>
          <p:nvPr/>
        </p:nvSpPr>
        <p:spPr>
          <a:xfrm>
            <a:off x="6812280" y="2560320"/>
            <a:ext cx="141732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NOS DOIS MODOS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812280" y="2880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Indicador esticado</a:t>
            </a:r>
            <a:endParaRPr lang="en-US" sz="1400" dirty="0"/>
          </a:p>
        </p:txBody>
      </p:sp>
      <p:pic>
        <p:nvPicPr>
          <p:cNvPr id="17" name="Image 3" descr="Desenh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240280"/>
            <a:ext cx="914400" cy="9144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73836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Desenhar</a:t>
            </a:r>
            <a:endParaRPr lang="en-US" sz="1700" dirty="0"/>
          </a:p>
        </p:txBody>
      </p:sp>
      <p:sp>
        <p:nvSpPr>
          <p:cNvPr id="19" name="Etiqueta MODO DESENHO"/>
          <p:cNvSpPr txBox="1"/>
          <p:nvPr/>
        </p:nvSpPr>
        <p:spPr>
          <a:xfrm>
            <a:off x="9738360" y="2560320"/>
            <a:ext cx="141732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MODO DESENHO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9738360" y="2880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Pinça com os dedos</a:t>
            </a:r>
            <a:endParaRPr lang="en-US" sz="1400" dirty="0"/>
          </a:p>
        </p:txBody>
      </p:sp>
      <p:pic>
        <p:nvPicPr>
          <p:cNvPr id="21" name="Image 4" descr="Seguin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520440"/>
            <a:ext cx="914400" cy="9144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1228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Seguinte</a:t>
            </a:r>
            <a:endParaRPr lang="en-US" sz="1700" dirty="0"/>
          </a:p>
        </p:txBody>
      </p:sp>
      <p:sp>
        <p:nvSpPr>
          <p:cNvPr id="23" name="Etiqueta MODO SLIDES"/>
          <p:cNvSpPr txBox="1"/>
          <p:nvPr/>
        </p:nvSpPr>
        <p:spPr>
          <a:xfrm>
            <a:off x="6812280" y="3840480"/>
            <a:ext cx="141732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MODO SLIDES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681228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Dois dedos, polegar dobrado</a:t>
            </a:r>
            <a:endParaRPr lang="en-US" sz="1400" dirty="0"/>
          </a:p>
        </p:txBody>
      </p:sp>
      <p:pic>
        <p:nvPicPr>
          <p:cNvPr id="25" name="Image 5" descr="Anteri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3520440"/>
            <a:ext cx="914400" cy="9144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73836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Anterior</a:t>
            </a:r>
            <a:endParaRPr lang="en-US" sz="1700" dirty="0"/>
          </a:p>
        </p:txBody>
      </p:sp>
      <p:sp>
        <p:nvSpPr>
          <p:cNvPr id="27" name="Etiqueta MODO SLIDES"/>
          <p:cNvSpPr txBox="1"/>
          <p:nvPr/>
        </p:nvSpPr>
        <p:spPr>
          <a:xfrm>
            <a:off x="9738360" y="3840480"/>
            <a:ext cx="141732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MODO SLIDES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973836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Dois dedos, polegar aberto</a:t>
            </a:r>
            <a:endParaRPr lang="en-US" sz="1400" dirty="0"/>
          </a:p>
        </p:txBody>
      </p:sp>
      <p:sp>
        <p:nvSpPr>
          <p:cNvPr id="29" name="Cartao das teclas"/>
          <p:cNvSpPr/>
          <p:nvPr/>
        </p:nvSpPr>
        <p:spPr>
          <a:xfrm>
            <a:off x="640080" y="4846320"/>
            <a:ext cx="10908792" cy="1417320"/>
          </a:xfrm>
          <a:prstGeom prst="roundRect">
            <a:avLst>
              <a:gd name="adj" fmla="val 1032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cla F1"/>
          <p:cNvSpPr txBox="1"/>
          <p:nvPr/>
        </p:nvSpPr>
        <p:spPr>
          <a:xfrm>
            <a:off x="868680" y="5029200"/>
            <a:ext cx="7772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F1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1783080" y="5120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Ajuda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68680" y="5650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Mostra ou esconde o cartão com os gestos.</a:t>
            </a:r>
            <a:endParaRPr lang="en-US" sz="1400" dirty="0"/>
          </a:p>
        </p:txBody>
      </p:sp>
      <p:sp>
        <p:nvSpPr>
          <p:cNvPr id="33" name="Tecla F2"/>
          <p:cNvSpPr txBox="1"/>
          <p:nvPr/>
        </p:nvSpPr>
        <p:spPr>
          <a:xfrm>
            <a:off x="3520440" y="5029200"/>
            <a:ext cx="7772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F2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4434840" y="5120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Laser ou holofote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520440" y="5650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Troca o ponto vermelho por uma luz suave.</a:t>
            </a:r>
            <a:endParaRPr lang="en-US" sz="1400" dirty="0"/>
          </a:p>
        </p:txBody>
      </p:sp>
      <p:sp>
        <p:nvSpPr>
          <p:cNvPr id="36" name="Tecla F9"/>
          <p:cNvSpPr txBox="1"/>
          <p:nvPr/>
        </p:nvSpPr>
        <p:spPr>
          <a:xfrm>
            <a:off x="6172200" y="5029200"/>
            <a:ext cx="7772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F9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7086600" y="5120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Pausa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6172200" y="5650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Pausa e retoma os comandos, sem fechar.</a:t>
            </a:r>
            <a:endParaRPr lang="en-US" sz="1400" dirty="0"/>
          </a:p>
        </p:txBody>
      </p:sp>
      <p:sp>
        <p:nvSpPr>
          <p:cNvPr id="39" name="Tecla F10"/>
          <p:cNvSpPr txBox="1"/>
          <p:nvPr/>
        </p:nvSpPr>
        <p:spPr>
          <a:xfrm>
            <a:off x="8823960" y="5029200"/>
            <a:ext cx="7772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F10</a:t>
            </a:r>
            <a:endParaRPr lang="en-US" sz="1800" dirty="0"/>
          </a:p>
        </p:txBody>
      </p:sp>
      <p:sp>
        <p:nvSpPr>
          <p:cNvPr id="40" name="Text 32"/>
          <p:cNvSpPr txBox="1"/>
          <p:nvPr/>
        </p:nvSpPr>
        <p:spPr>
          <a:xfrm>
            <a:off x="9738360" y="5120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Sair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8823960" y="5650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Encerra o programa e salva o relatório.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aprendemos</a:t>
            </a:r>
            <a:endParaRPr lang="en-US" sz="3600" dirty="0"/>
          </a:p>
        </p:txBody>
      </p:sp>
      <p:sp>
        <p:nvSpPr>
          <p:cNvPr id="3" name="Cartao da licao 1"/>
          <p:cNvSpPr/>
          <p:nvPr/>
        </p:nvSpPr>
        <p:spPr>
          <a:xfrm>
            <a:off x="640080" y="1691640"/>
            <a:ext cx="3429000" cy="301752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Fundo do icone Testar de verdade"/>
          <p:cNvSpPr/>
          <p:nvPr/>
        </p:nvSpPr>
        <p:spPr>
          <a:xfrm>
            <a:off x="960120" y="20116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Icone: Testar de verd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22016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200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Testar de verdade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7490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58 testes passaram e a câmera ainda achou um bug.</a:t>
            </a:r>
            <a:endParaRPr lang="en-US" sz="1600" dirty="0"/>
          </a:p>
        </p:txBody>
      </p:sp>
      <p:sp>
        <p:nvSpPr>
          <p:cNvPr id="8" name="Cartao da licao 2"/>
          <p:cNvSpPr/>
          <p:nvPr/>
        </p:nvSpPr>
        <p:spPr>
          <a:xfrm>
            <a:off x="4343400" y="1691640"/>
            <a:ext cx="3429000" cy="301752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Fundo do icone Simples vence esperto"/>
          <p:cNvSpPr/>
          <p:nvPr/>
        </p:nvSpPr>
        <p:spPr>
          <a:xfrm>
            <a:off x="4663440" y="20116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Icone: Simples vence esper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923" y="222016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200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Simples vence esperto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7490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 gesto parado ganhou do deslize que borrava no escuro.</a:t>
            </a:r>
            <a:endParaRPr lang="en-US" sz="1600" dirty="0"/>
          </a:p>
        </p:txBody>
      </p:sp>
      <p:sp>
        <p:nvSpPr>
          <p:cNvPr id="13" name="Cartao da licao 3"/>
          <p:cNvSpPr/>
          <p:nvPr/>
        </p:nvSpPr>
        <p:spPr>
          <a:xfrm>
            <a:off x="8046720" y="1691640"/>
            <a:ext cx="3429000" cy="301752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Fundo do icone Separar evita confusão"/>
          <p:cNvSpPr/>
          <p:nvPr/>
        </p:nvSpPr>
        <p:spPr>
          <a:xfrm>
            <a:off x="8366760" y="201168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Icone: Separar evita confus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243" y="222016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3200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Separar evita confusão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7490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Dois modos acabaram com a tela riscada sem querer.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Cada erro virou uma regra do programa.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CED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Obrigado!</a:t>
            </a:r>
            <a:endParaRPr lang="en-US" sz="6600" dirty="0"/>
          </a:p>
        </p:txBody>
      </p:sp>
      <p:sp>
        <p:nvSpPr>
          <p:cNvPr id="3" name="Etiqueta github.com/LuanRodrigues15/GestureDeck"/>
          <p:cNvSpPr txBox="1"/>
          <p:nvPr/>
        </p:nvSpPr>
        <p:spPr>
          <a:xfrm>
            <a:off x="731520" y="3429000"/>
            <a:ext cx="3931920" cy="4114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github.com/LuanRodrigues15/GestureDeck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Luan Rodrigues, João Henrique e Mateus Henrique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FIAP, Cognitive Computing, Computer Vision and IoT Systems</a:t>
            </a:r>
            <a:endParaRPr lang="en-US" sz="1600" dirty="0"/>
          </a:p>
        </p:txBody>
      </p:sp>
      <p:sp>
        <p:nvSpPr>
          <p:cNvPr id="6" name="Cartao dos gestos"/>
          <p:cNvSpPr/>
          <p:nvPr/>
        </p:nvSpPr>
        <p:spPr>
          <a:xfrm>
            <a:off x="7178040" y="822960"/>
            <a:ext cx="4343400" cy="5212080"/>
          </a:xfrm>
          <a:prstGeom prst="roundRect">
            <a:avLst>
              <a:gd name="adj" fmla="val 336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Galeria 1"/>
          <p:cNvSpPr/>
          <p:nvPr/>
        </p:nvSpPr>
        <p:spPr>
          <a:xfrm>
            <a:off x="7612380" y="1051560"/>
            <a:ext cx="1645920" cy="1508760"/>
          </a:xfrm>
          <a:prstGeom prst="roundRect">
            <a:avLst>
              <a:gd name="adj" fmla="val 96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8" name="Image 0" descr="Gest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5260" y="1161288"/>
            <a:ext cx="1280160" cy="1280160"/>
          </a:xfrm>
          <a:prstGeom prst="rect">
            <a:avLst/>
          </a:prstGeom>
        </p:spPr>
      </p:pic>
      <p:sp>
        <p:nvSpPr>
          <p:cNvPr id="9" name="Galeria 2"/>
          <p:cNvSpPr/>
          <p:nvPr/>
        </p:nvSpPr>
        <p:spPr>
          <a:xfrm>
            <a:off x="9441180" y="1051560"/>
            <a:ext cx="1645920" cy="1508760"/>
          </a:xfrm>
          <a:prstGeom prst="roundRect">
            <a:avLst>
              <a:gd name="adj" fmla="val 96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Gest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060" y="1161288"/>
            <a:ext cx="1280160" cy="1280160"/>
          </a:xfrm>
          <a:prstGeom prst="rect">
            <a:avLst/>
          </a:prstGeom>
        </p:spPr>
      </p:pic>
      <p:sp>
        <p:nvSpPr>
          <p:cNvPr id="11" name="Galeria 3"/>
          <p:cNvSpPr/>
          <p:nvPr/>
        </p:nvSpPr>
        <p:spPr>
          <a:xfrm>
            <a:off x="7612380" y="2743200"/>
            <a:ext cx="1645920" cy="1508760"/>
          </a:xfrm>
          <a:prstGeom prst="roundRect">
            <a:avLst>
              <a:gd name="adj" fmla="val 96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2" descr="Gest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2852928"/>
            <a:ext cx="1280160" cy="1280160"/>
          </a:xfrm>
          <a:prstGeom prst="rect">
            <a:avLst/>
          </a:prstGeom>
        </p:spPr>
      </p:pic>
      <p:sp>
        <p:nvSpPr>
          <p:cNvPr id="13" name="Galeria 4"/>
          <p:cNvSpPr/>
          <p:nvPr/>
        </p:nvSpPr>
        <p:spPr>
          <a:xfrm>
            <a:off x="9441180" y="2743200"/>
            <a:ext cx="1645920" cy="1508760"/>
          </a:xfrm>
          <a:prstGeom prst="roundRect">
            <a:avLst>
              <a:gd name="adj" fmla="val 96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3" descr="Gest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060" y="2852928"/>
            <a:ext cx="1280160" cy="1280160"/>
          </a:xfrm>
          <a:prstGeom prst="rect">
            <a:avLst/>
          </a:prstGeom>
        </p:spPr>
      </p:pic>
      <p:sp>
        <p:nvSpPr>
          <p:cNvPr id="15" name="Galeria 5"/>
          <p:cNvSpPr/>
          <p:nvPr/>
        </p:nvSpPr>
        <p:spPr>
          <a:xfrm>
            <a:off x="7612380" y="4434840"/>
            <a:ext cx="1645920" cy="1508760"/>
          </a:xfrm>
          <a:prstGeom prst="roundRect">
            <a:avLst>
              <a:gd name="adj" fmla="val 96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Image 4" descr="Gesto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4544568"/>
            <a:ext cx="1280160" cy="1280160"/>
          </a:xfrm>
          <a:prstGeom prst="rect">
            <a:avLst/>
          </a:prstGeom>
        </p:spPr>
      </p:pic>
      <p:sp>
        <p:nvSpPr>
          <p:cNvPr id="17" name="Galeria 6"/>
          <p:cNvSpPr/>
          <p:nvPr/>
        </p:nvSpPr>
        <p:spPr>
          <a:xfrm>
            <a:off x="9441180" y="4434840"/>
            <a:ext cx="1645920" cy="1508760"/>
          </a:xfrm>
          <a:prstGeom prst="roundRect">
            <a:avLst>
              <a:gd name="adj" fmla="val 96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Image 5" descr="Gesto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060" y="4544568"/>
            <a:ext cx="1280160" cy="1280160"/>
          </a:xfrm>
          <a:prstGeom prst="rect">
            <a:avLst/>
          </a:prstGeom>
        </p:spPr>
      </p:pic>
      <p:sp>
        <p:nvSpPr>
          <p:cNvPr id="20" name="Text 0"/>
          <p:cNvSpPr/>
          <p:nvPr>
            <p:ph idx="101" type="body" hasCustomPrompt="1"/>
          </p:nvPr>
        </p:nvSpPr>
        <p:spPr>
          <a:xfrm>
            <a:off x="731520" y="3200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ureDeck">
  <a:themeElements>
    <a:clrScheme name="GestureDeck">
      <a:dk1>
        <a:srgbClr val="14161C"/>
      </a:dk1>
      <a:lt1>
        <a:srgbClr val="FFFFFF"/>
      </a:lt1>
      <a:dk2>
        <a:srgbClr val="1F2330"/>
      </a:dk2>
      <a:lt2>
        <a:srgbClr val="C9CEDA"/>
      </a:lt2>
      <a:accent1>
        <a:srgbClr val="FFCC00"/>
      </a:accent1>
      <a:accent2>
        <a:srgbClr val="FF3B30"/>
      </a:accent2>
      <a:accent3>
        <a:srgbClr val="0A84FF"/>
      </a:accent3>
      <a:accent4>
        <a:srgbClr val="34C759"/>
      </a:accent4>
      <a:accent5>
        <a:srgbClr val="FF2D95"/>
      </a:accent5>
      <a:accent6>
        <a:srgbClr val="FF9F0A"/>
      </a:accent6>
      <a:hlink>
        <a:srgbClr val="0A84FF"/>
      </a:hlink>
      <a:folHlink>
        <a:srgbClr val="C9CEDA"/>
      </a:folHlink>
    </a:clrScheme>
    <a:fontScheme name="GestureDec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GestureDeck</dc:title>
  <dc:subject>Controle de apresentações do PowerPoint por gestos</dc:subject>
  <dc:creator>Luan Rodrigues, João Henrique e Mateus Henrique</dc:creator>
  <cp:lastModifiedBy>Luan Rodrigues, João Henrique e Mateus Henrique</cp:lastModifiedBy>
  <cp:revision>1</cp:revision>
  <dcterms:created xsi:type="dcterms:W3CDTF">2026-10-29T17:26:54Z</dcterms:created>
  <dcterms:modified xsi:type="dcterms:W3CDTF">2026-10-29T17:26:54Z</dcterms:modified>
</cp:coreProperties>
</file>